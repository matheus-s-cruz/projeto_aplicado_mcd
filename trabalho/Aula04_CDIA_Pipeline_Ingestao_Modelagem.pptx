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VpYbJuPVbZrAuvU7z5n3G/GQQ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OpenSans-bold.fntdata"/><Relationship Id="rId21" Type="http://schemas.openxmlformats.org/officeDocument/2006/relationships/font" Target="fonts/OpenSans-regular.fntdata"/><Relationship Id="rId24" Type="http://schemas.openxmlformats.org/officeDocument/2006/relationships/font" Target="fonts/OpenSans-boldItalic.fntdata"/><Relationship Id="rId2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Dica:</a:t>
            </a:r>
            <a:r>
              <a:rPr lang="pt-BR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Verifique se o Python 3.9+ está instalado nos computadores antes de iniciar o código.</a:t>
            </a:r>
            <a:endParaRPr sz="1000"/>
          </a:p>
        </p:txBody>
      </p:sp>
      <p:sp>
        <p:nvSpPr>
          <p:cNvPr id="90" name="Google Shape;9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1_Slide de Título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rgbClr val="37BFF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9"/>
          <p:cNvSpPr txBox="1"/>
          <p:nvPr>
            <p:ph type="title"/>
          </p:nvPr>
        </p:nvSpPr>
        <p:spPr>
          <a:xfrm>
            <a:off x="831850" y="1709738"/>
            <a:ext cx="9048997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" type="body"/>
          </p:nvPr>
        </p:nvSpPr>
        <p:spPr>
          <a:xfrm>
            <a:off x="831850" y="4589463"/>
            <a:ext cx="9048997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Título e Conteúdo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838200" y="365125"/>
            <a:ext cx="930897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839789" y="365125"/>
            <a:ext cx="928075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9" name="Google Shape;49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0" name="Google Shape;5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838200" y="365125"/>
            <a:ext cx="931785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 rot="5400000">
            <a:off x="623678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 rot="5400000">
            <a:off x="1140631" y="-358257"/>
            <a:ext cx="5811838" cy="725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" name="Google Shape;11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Aula 4 — Ingestão, Modelagem e Mapa Lógico</a:t>
            </a:r>
            <a:endParaRPr/>
          </a:p>
        </p:txBody>
      </p:sp>
      <p:sp>
        <p:nvSpPr>
          <p:cNvPr id="81" name="Google Shape;81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CDIA — Ciência de Dados e Inteligência Artificial | 17/03/2026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831850" y="1709738"/>
            <a:ext cx="9048997" cy="10913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Objetivos da Aula 4</a:t>
            </a:r>
            <a:endParaRPr/>
          </a:p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588782" y="3073180"/>
            <a:ext cx="9048997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17647"/>
              <a:buNone/>
            </a:pPr>
            <a:r>
              <a:rPr lang="pt-BR"/>
              <a:t>Escrever scripts Python para merge de planilhas 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17647"/>
              <a:buNone/>
            </a:pPr>
            <a:r>
              <a:rPr lang="pt-BR"/>
              <a:t>Enriquecer dados via APIs (PubChem / ChEBI)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17647"/>
              <a:buNone/>
            </a:pPr>
            <a:r>
              <a:rPr lang="pt-BR"/>
              <a:t>Modelar schema do banco de dados 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17647"/>
              <a:buNone/>
            </a:pPr>
            <a:r>
              <a:rPr lang="pt-BR"/>
              <a:t>Entregar Mapa Logico com integridade referencial e realizar o commit no Git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Passo 1 — Preparação do Ambiente</a:t>
            </a:r>
            <a:endParaRPr/>
          </a:p>
        </p:txBody>
      </p:sp>
      <p:sp>
        <p:nvSpPr>
          <p:cNvPr id="93" name="Google Shape;93;p20"/>
          <p:cNvSpPr txBox="1"/>
          <p:nvPr>
            <p:ph idx="1" type="body"/>
          </p:nvPr>
        </p:nvSpPr>
        <p:spPr>
          <a:xfrm>
            <a:off x="620476" y="1690699"/>
            <a:ext cx="9948300" cy="40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71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que fazer: 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Certifique-se de que as planilhas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estão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em formato CSV ou XLSX. 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71"/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Instalação</a:t>
            </a: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das bibliotecas </a:t>
            </a: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necessárias</a:t>
            </a: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71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pip install pandas openpyxl tabula-py requests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71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71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Estrutura de pastas esperada: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71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/dados_brutos/   identificacao.xlsx   abundancia.xlsx   compostos_final.xlsx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71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7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type="title"/>
          </p:nvPr>
        </p:nvSpPr>
        <p:spPr>
          <a:xfrm>
            <a:off x="838200" y="365125"/>
            <a:ext cx="10239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4300"/>
              <a:t>Passo 2 — Merge: Identificacao x </a:t>
            </a:r>
            <a:r>
              <a:rPr lang="pt-BR" sz="4300"/>
              <a:t>Abundância</a:t>
            </a:r>
            <a:endParaRPr sz="4300"/>
          </a:p>
        </p:txBody>
      </p:sp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838200" y="1690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Objetivo: Unir as planilhas usando a Coluna A como chave estrangeira (FK).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import pandas as pd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df_id = pd.read_excel('identificacao.xlsx')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df_ab = pd.read_excel('abundancia.xlsx')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df_merged = pd.merge(df_id, df_ab, on='Coluna_A', how='inner')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df_merged.to_csv('merge_resultado.csv', index=False)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Regra de </a:t>
            </a: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Negócio</a:t>
            </a: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— Replicatas (amostras 1.1 e 1.2):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OPCAO A: Agregar (media) — df.groupby('composto').mean() — recomendado para heuristica probabilistica.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OPCAO B: Manter separadas como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dimensões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distintas — necessita coluna extra 'tipo_replicata'.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Quanto maior a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consistência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entre replicatas, maior a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confiança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do modelo de ranking. Documente a escolha no README do grupo.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4000"/>
              <a:t>Passo 3 — Enriquecimento via APIs </a:t>
            </a:r>
            <a:r>
              <a:rPr lang="pt-BR" sz="4000"/>
              <a:t>Públicas</a:t>
            </a:r>
            <a:endParaRPr sz="4000"/>
          </a:p>
        </p:txBody>
      </p:sp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769475" y="16907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a Coluna J (Description) como </a:t>
            </a: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parâmetro</a:t>
            </a: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busca nas APIs: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PubChem (recomendada para busca rapida):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Endpoint: https://pubchem.ncbi.nlm.nih.gov/rest/pug/compound/name/{nome}/JSON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Retorna: CID, formula molecular, peso molecular, InChIKey, sinonimos, classificacao biologica.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ChEBI (recomendada para ontologia quimica e biologica):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Endpoint SOAP/REST: https://www.ebi.ac.uk/webservices/chebi/2.0/webservice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Retorna: ID ChEBI, papel biologico (role), classe quimica, subontologias (ex: metabolito, farmaco).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Tarefa: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Escreva uma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função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get_metadata(descricao) que consulte as duas APIs e retorne um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dicionário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com os campos: chebi_id, pubchem_cid, formula, role, ontologia.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3900"/>
              <a:t>Passo 4 — Script de Consulta a API (exemplo)</a:t>
            </a:r>
            <a:endParaRPr sz="3900"/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Implemente e teste o </a:t>
            </a: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código</a:t>
            </a: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abaixo no seu ambiente: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import requests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 get_pubchem(nome):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url = f'https://pubchem.ncbi.nlm.nih.gov/rest/pug/compound/name/{nome}/JSON'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r = requests.get(url, timeout=10)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if r.status_code == 200: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data = r.json()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props = data['PC_Compounds'][0]['props']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return {p['urn']['label']: p['value'] for p in props}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return {}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Atividade: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Aplique a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função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para as primeiras 10 linhas da Coluna J e salve o resultado em um DataFrame separado. Identifique quantas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moléculas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foram localizadas com sucesso em cada API.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Passo 5 — </a:t>
            </a:r>
            <a:r>
              <a:rPr lang="pt-BR"/>
              <a:t>Validação</a:t>
            </a:r>
            <a:endParaRPr/>
          </a:p>
        </p:txBody>
      </p:sp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que </a:t>
            </a: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é</a:t>
            </a: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Composto Final</a:t>
            </a: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o 'suprassumo': a planilha de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referência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com a taxonomia validada pela literatura do IST. Ela representa o gabarito do pipeline de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identificação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Instruções</a:t>
            </a: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Ingestão</a:t>
            </a: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Carregue a planilha IGNORANDO as colunas C e D (podem conter dados inconsistentes).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Use apenas as colunas de taxonomia (nome do composto, classe, familia, genero).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Faca o merge com seu DataFrame resultante do Passo 2 usando o Compound ID (Coluna B) como chave.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Questão: 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Quantos compostos do seu pipeline coincidem com os listados no Compostos_final? A taxa de acerto e satisfatoria? Documente os divergentes.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type="title"/>
          </p:nvPr>
        </p:nvSpPr>
        <p:spPr>
          <a:xfrm>
            <a:off x="838200" y="365125"/>
            <a:ext cx="1036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3600"/>
              <a:t>Passo 6 — Modelagem </a:t>
            </a:r>
            <a:r>
              <a:rPr lang="pt-BR" sz="3600"/>
              <a:t>Lógica</a:t>
            </a:r>
            <a:r>
              <a:rPr lang="pt-BR" sz="3600"/>
              <a:t>: Fatos e </a:t>
            </a:r>
            <a:r>
              <a:rPr lang="pt-BR" sz="3600"/>
              <a:t>Dimensões</a:t>
            </a:r>
            <a:endParaRPr sz="3600"/>
          </a:p>
        </p:txBody>
      </p:sp>
      <p:sp>
        <p:nvSpPr>
          <p:cNvPr id="123" name="Google Shape;123;p25"/>
          <p:cNvSpPr txBox="1"/>
          <p:nvPr>
            <p:ph idx="1" type="body"/>
          </p:nvPr>
        </p:nvSpPr>
        <p:spPr>
          <a:xfrm>
            <a:off x="761850" y="16057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Tabela de FATOS — fact_abundancia: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Colunas: id_medicao (PK), compound_id (FK), id_amostra (FK), abundancia_valor, sinal_analitico, tipo_replicata, score_identificacao.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Origem: Colunas G-R da planilha de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Abundância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Cada linha = uma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medição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uma amostra para um composto.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Tabela de DIMENSAO — dim_composto: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Colunas: compound_id (PK), nome_composto (Col. B), descricao (Col. J), chebi_id, pubchem_cid, formula, role_biologico, ontologia, classe_taxonomica.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Origem: merge entre Identificacao + retorno das APIs PubChem/ChEBI + Compostos_final.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Tabela de DIMENSAO — dim_amostra: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Colunas: id_amostra (PK), nome_amostra, tipo (replicata / unica), projeto, data_coleta.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type="title"/>
          </p:nvPr>
        </p:nvSpPr>
        <p:spPr>
          <a:xfrm>
            <a:off x="838200" y="365125"/>
            <a:ext cx="10060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3600"/>
              <a:t>Passo 7 — Flexibilidade e Escalabilidade do Schema</a:t>
            </a:r>
            <a:endParaRPr sz="3600"/>
          </a:p>
        </p:txBody>
      </p:sp>
      <p:sp>
        <p:nvSpPr>
          <p:cNvPr id="129" name="Google Shape;129;p26"/>
          <p:cNvSpPr txBox="1"/>
          <p:nvPr>
            <p:ph idx="1" type="body"/>
          </p:nvPr>
        </p:nvSpPr>
        <p:spPr>
          <a:xfrm>
            <a:off x="714500" y="1690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Problema: A quantidade de amostras muda entre projetos. Como garantir replicabilidade?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Solucao A — Estrutura Relacional Normalizada: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Crie uma tabela dim_amostra separada. Cada nova amostra vira um novo registro, sem alterar o schema. A fact_abundancia referencia dim_amostra por FK. Adicionando colunas de amostra ao projeto: basta  inserir novas linhas, nao novas colunas.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Solucao B — JSONB no PostgreSQL (avancado):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Armazene os sinais de todas as amostras em uma coluna do tipo JSONB: { '1.1': 1500.2, '1.2': 1489.7, '2.1': 3201.0 }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Vantagem: schema nunca muda com novas amostras. Desvantagem: mais complexo para </a:t>
            </a:r>
            <a:endParaRPr b="0" i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consultas SQL simples.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Escolha UMA das abordagens, documente o motivo e implemente no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banco escolhido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type="title"/>
          </p:nvPr>
        </p:nvSpPr>
        <p:spPr>
          <a:xfrm>
            <a:off x="838200" y="365125"/>
            <a:ext cx="10280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4000"/>
              <a:t>Passo 8 — </a:t>
            </a:r>
            <a:r>
              <a:rPr lang="pt-BR" sz="3800"/>
              <a:t>Heuristica de Ranking Probabilistico</a:t>
            </a:r>
            <a:endParaRPr sz="3800"/>
          </a:p>
        </p:txBody>
      </p:sp>
      <p:sp>
        <p:nvSpPr>
          <p:cNvPr id="135" name="Google Shape;135;p27"/>
          <p:cNvSpPr txBox="1"/>
          <p:nvPr>
            <p:ph idx="1" type="body"/>
          </p:nvPr>
        </p:nvSpPr>
        <p:spPr>
          <a:xfrm>
            <a:off x="838200" y="1690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Como usar </a:t>
            </a: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Abundância</a:t>
            </a: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+ Score para ranquear compostos?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Lógica</a:t>
            </a: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heurística</a:t>
            </a: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Para cada composto, calcule o Coeficiente de Variacao (CV) entre as replicatas: CV = desvio_padrao / media * 100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Compostos com CV baixo (alta consistencia) recebem peso maior no ranking.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Combine o Score de identificacao (Col. Score, se disponivel) com a Abundancia media das replicatas.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Formula sugerida: confianca = (1 / (1 + CV)) * score * log(abundancia_media + 1)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Atividade: 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Implemente a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fórmula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como uma nova coluna 'confianca_ranking' no DataFrame e visualize os top 10 compostos com maior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confiança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usando matplotlib ou seaborn.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title"/>
          </p:nvPr>
        </p:nvSpPr>
        <p:spPr>
          <a:xfrm>
            <a:off x="831850" y="1709738"/>
            <a:ext cx="9048997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Mapa </a:t>
            </a:r>
            <a:r>
              <a:rPr lang="pt-BR"/>
              <a:t>Lógico</a:t>
            </a:r>
            <a:r>
              <a:rPr lang="pt-BR"/>
              <a:t> e </a:t>
            </a:r>
            <a:r>
              <a:rPr lang="pt-BR"/>
              <a:t>Critérios</a:t>
            </a:r>
            <a:r>
              <a:rPr lang="pt-BR"/>
              <a:t> de Entrega</a:t>
            </a:r>
            <a:endParaRPr/>
          </a:p>
        </p:txBody>
      </p:sp>
      <p:sp>
        <p:nvSpPr>
          <p:cNvPr id="141" name="Google Shape;141;p28"/>
          <p:cNvSpPr txBox="1"/>
          <p:nvPr>
            <p:ph idx="1" type="body"/>
          </p:nvPr>
        </p:nvSpPr>
        <p:spPr>
          <a:xfrm>
            <a:off x="831850" y="4589463"/>
            <a:ext cx="9048997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pt-BR"/>
              <a:t>Como desenhar e entregar o diagrama de integridade referencial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/>
          <p:nvPr>
            <p:ph type="title"/>
          </p:nvPr>
        </p:nvSpPr>
        <p:spPr>
          <a:xfrm>
            <a:off x="1038000" y="967588"/>
            <a:ext cx="90489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Registro de </a:t>
            </a:r>
            <a:r>
              <a:rPr lang="pt-BR"/>
              <a:t>Evidências</a:t>
            </a:r>
            <a:r>
              <a:rPr lang="pt-BR"/>
              <a:t> — Git Commit</a:t>
            </a:r>
            <a:endParaRPr/>
          </a:p>
        </p:txBody>
      </p:sp>
      <p:sp>
        <p:nvSpPr>
          <p:cNvPr id="147" name="Google Shape;147;p29"/>
          <p:cNvSpPr txBox="1"/>
          <p:nvPr>
            <p:ph idx="1" type="body"/>
          </p:nvPr>
        </p:nvSpPr>
        <p:spPr>
          <a:xfrm>
            <a:off x="859350" y="4039750"/>
            <a:ext cx="99981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pt-BR"/>
              <a:t>Cada grupo deve commitar o script de </a:t>
            </a:r>
            <a:r>
              <a:rPr lang="pt-BR"/>
              <a:t>união</a:t>
            </a:r>
            <a:r>
              <a:rPr lang="pt-BR"/>
              <a:t> de tabelas ao final da aula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4200"/>
              <a:t>Passo 9 — Mapa Logico: Integridade Referencial</a:t>
            </a:r>
            <a:endParaRPr sz="4200"/>
          </a:p>
        </p:txBody>
      </p:sp>
      <p:sp>
        <p:nvSpPr>
          <p:cNvPr id="153" name="Google Shape;153;p30"/>
          <p:cNvSpPr txBox="1"/>
          <p:nvPr>
            <p:ph idx="1" type="body"/>
          </p:nvPr>
        </p:nvSpPr>
        <p:spPr>
          <a:xfrm>
            <a:off x="838200" y="1690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Entregavel: Diagrama ER com as seguintes relacoes obrigatorias: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dim_composto.compound_id (PK) —|&lt; fact_abundancia.compound_id (FK)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dim_amostra.id_amostra (PK) —|&lt; fact_abundancia.id_amostra (FK)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dim_composto.compound_id (PK) —|&lt; dim_ontologia.compound_id (FK)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Ferramentas sugeridas para o diagrama: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dbdiagram.io (online, gratuito) | draw.io / diagrams.net | Lucidchart | pgAdmin ER Diagram (se usar PostgreSQL)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Critério</a:t>
            </a: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aprovação</a:t>
            </a: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mapa deve demonstrar que compound_id (Coluna B) se conecta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diretamente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aos atributos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químicos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capturados do PubChem/ChEBI. Toda FK deve ter uma PK correspondente. Sem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órfãos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APIs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PubChem: mais rapida, retorna formula + CID + sinonimos. ChEBI: mais rica em ontologia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biológica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ideal para validar roles moleculares. Use as DUAS e compare os resultados.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Passo 10 — Checklist de aula</a:t>
            </a:r>
            <a:endParaRPr/>
          </a:p>
        </p:txBody>
      </p:sp>
      <p:sp>
        <p:nvSpPr>
          <p:cNvPr id="159" name="Google Shape;159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Antes de finalizar </a:t>
            </a:r>
            <a:endParaRPr b="1" i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b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 ] Script de merge (identificacao + abundancia) funcionando e salvo como merge_pipeline.py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 ]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Função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consulta a API (PubChem e/ou ChEBI) implementada e testada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 ] DataFrame enriquecido com metadados externos salvo em CSV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 ]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Validação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com Compostos_final realizada e percentual de acerto calculado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 ] Script de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criação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do banco de dados (CREATE TABLE) salvo como schema.sql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 ] Mapa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Lógico</a:t>
            </a: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(ER) exportado como imagem PNG ou PDF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Comando Git </a:t>
            </a: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obrigatório</a:t>
            </a:r>
            <a:r>
              <a:rPr b="1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ao final da aula: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git add merge_pipeline.py schema.sql mapa_logico.png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git commit -m 'Aula 4: pipeline de merge, enriquecimento API e schema do BD'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git push origin main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2"/>
          <p:cNvSpPr txBox="1"/>
          <p:nvPr/>
        </p:nvSpPr>
        <p:spPr>
          <a:xfrm>
            <a:off x="5690108" y="4112547"/>
            <a:ext cx="1389508" cy="492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3210 4567</a:t>
            </a:r>
            <a:endParaRPr/>
          </a:p>
        </p:txBody>
      </p:sp>
      <p:pic>
        <p:nvPicPr>
          <p:cNvPr descr="Desenho de um círculo  Descrição gerada automaticamente com confiança média" id="166" name="Google Shape;16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2457" y="4234824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2"/>
          <p:cNvSpPr txBox="1"/>
          <p:nvPr/>
        </p:nvSpPr>
        <p:spPr>
          <a:xfrm>
            <a:off x="3043098" y="3620344"/>
            <a:ext cx="6105803" cy="492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Milena Veiga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2019-05-13T19:17:28Z</dcterms:created>
  <dc:creator>GUSTAVO CAMPOS BARBOSA</dc:creator>
</cp:coreProperties>
</file>
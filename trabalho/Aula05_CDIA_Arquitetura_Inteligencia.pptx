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YI4PWkpMXGHG8kg+K/MzXdJmC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1_Slide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Aula 05: A Arquitetura da Inteligência</a:t>
            </a:r>
            <a:endParaRPr/>
          </a:p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CDIA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576125" y="407900"/>
            <a:ext cx="105438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Cronograma da Aula </a:t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878350" y="3706063"/>
            <a:ext cx="90489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Warm-up: O Impacto Real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Deep Dive: Validando a Coluna 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Exercício 1: O “Match” das APIs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Exercício 2: Blindagem do Schema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Pitch Interno &amp; Entrega Final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529625" y="314900"/>
            <a:ext cx="103113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🔍 Deep Dive: Validando a “Coluna A” </a:t>
            </a:r>
            <a:endParaRPr/>
          </a:p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878350" y="3167625"/>
            <a:ext cx="103113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1" lang="pt-BR"/>
              <a:t>Conceito-chave: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b="0" lang="pt-BR"/>
              <a:t>Cruzar a planilha de Identificação com a de Abundância usando a Coluna A como elo.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78149"/>
              <a:buNone/>
            </a:pPr>
            <a:r>
              <a:rPr b="1" lang="pt-BR" sz="3071"/>
              <a:t>Exercício de Lógica no brModelo / DBeaver:</a:t>
            </a:r>
            <a:endParaRPr sz="3071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78149"/>
              <a:buNone/>
            </a:pPr>
            <a:r>
              <a:rPr b="0" lang="pt-BR" sz="3071"/>
              <a:t>1. Garantam que a Coluna A seja a Chave Estrangeira (FK) unindo as duas tabelas.</a:t>
            </a:r>
            <a:endParaRPr sz="3071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78149"/>
              <a:buNone/>
            </a:pPr>
            <a:r>
              <a:rPr b="0" lang="pt-BR" sz="3071"/>
              <a:t>2. Desafio: Como tratar as replicatas 1.1 e 1.2 (Colunas G-R) sem criar redundância?</a:t>
            </a:r>
            <a:endParaRPr sz="3071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78149"/>
              <a:buNone/>
            </a:pPr>
            <a:r>
              <a:rPr b="0" lang="pt-BR" sz="3071"/>
              <a:t>3. Seu schema deve prever uma tabela de FATOS para essas medidas.</a:t>
            </a:r>
            <a:endParaRPr sz="307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Objetivo: Validar o enriquecimento de dados com PubChem/ChEBI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script Python (Sprint 1), vocês capturaram o CID usando a Coluna J (Description).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Tarefa — Criar uma View SQL que exiba: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Nome do Analito (IST) | Massa Molecular (PubChem) | Usos Conhecidos (API)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que observar: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o nome da Coluna J não retornar resultado → o schema aceita Nulo ou tem campo Default?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Integridade é essencial para a heurística de ranking!</a:t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🔗 Exercício 1: O “Match” das APIs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692375" y="291672"/>
            <a:ext cx="9048900" cy="20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 Exercício 2: Blindagem do Schema </a:t>
            </a:r>
            <a:endParaRPr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831850" y="2642450"/>
            <a:ext cx="9683700" cy="42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/>
              <a:t>Objetivo: Implementar Constraints no PostgreSQL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/>
              <a:t>Checkpoint obrigatório: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1. O Compound ID (Coluna B) está indexado para buscas rápidas?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2. O schema aguenta 50 amostras em vez de 12 na próxima semana? (Flexibilidade!)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3. Tipos de dados otimizados: float para massa, varchar para descrição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/>
              <a:t>Meta: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Schema com chaves primárias, estrangeiras e restrições de integridade aplicadas.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738225" y="184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Peer Validation — Apresentem o Mapa Lógico final ao grupo vizinho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grupo tem 3 min para mostrar o schema e receber feedback.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 txBox="1"/>
          <p:nvPr>
            <p:ph type="title"/>
          </p:nvPr>
        </p:nvSpPr>
        <p:spPr>
          <a:xfrm>
            <a:off x="738225" y="38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 Pitch Interno  Entrega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692375" y="245143"/>
            <a:ext cx="90489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 Critérios de Sucesso </a:t>
            </a:r>
            <a:endParaRPr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901600" y="1898550"/>
            <a:ext cx="9846600" cy="4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 sz="2600"/>
              <a:t>Schema Robusto:</a:t>
            </a:r>
            <a:endParaRPr sz="26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 sz="2600"/>
              <a:t>Integra pelo menos 2 fontes de dados (Excel + PubChem/ChEBI).</a:t>
            </a:r>
            <a:endParaRPr sz="26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 sz="2600"/>
              <a:t>Normalização:</a:t>
            </a:r>
            <a:endParaRPr sz="26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 sz="2600"/>
              <a:t>Chaves primárias e estrangeiras corretamente aplicadas — Coluna A unindo Identificação e Abundância.</a:t>
            </a:r>
            <a:endParaRPr sz="26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 sz="2600"/>
              <a:t>Flexibilidade:</a:t>
            </a:r>
            <a:endParaRPr sz="26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 sz="2600"/>
              <a:t>O banco está pronto para receber novos volumes de dados do IST sem refatorar.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Não busquem a perfeição absoluta agora.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Busquem a consistência lógica!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"Suprassumo" (Compostos_final) é o guia: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o banco de vocês espelha aquela lógica, vocês estão no caminho exemplar!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Lembre-se do fluxo: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Sinal Analítico → Ranking Probabilístico → Decisão — cada tabela importa!</a:t>
            </a:r>
            <a:endParaRPr/>
          </a:p>
        </p:txBody>
      </p:sp>
      <p:sp>
        <p:nvSpPr>
          <p:cNvPr id="123" name="Google Shape;123;p25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 Dica da Profa.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831850" y="338145"/>
            <a:ext cx="90489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 Resumo da Aula de Hoje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831850" y="2456475"/>
            <a:ext cx="10148700" cy="4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/>
              <a:t>Você aprendeu a: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✅ Modelar a Coluna A como Chave Estrangeira entre Identificação e Abundância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✅ Criar Views SQL cruzando dados do IST com enriquecimento de APIs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✅ Implementar Constraints e índices no PostgreSQL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✅ Validar o schema em peer validation com colegas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pt-BR"/>
              <a:t>Próximo passo: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0" lang="pt-BR"/>
              <a:t>Submeter o PDF do schema e o link do repositório Git. Bom trabalho!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Momento Zen:</a:t>
            </a: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Cada tabela que vocês modelam hoje poupa horas de um pesquisador do IST.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vez de preencher Excel, esse pesquisador poderá focar em curar doenças ou despoluir águas.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Desafio Rápido — Desenhem o fluxo </a:t>
            </a:r>
            <a:br>
              <a:rPr b="1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Sinal Analítico Ranking Probabilístico</a:t>
            </a: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b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Decisão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5" name="Google Shape;135;p2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Warm-up: O Impacto Real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8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3210 4567</a:t>
            </a:r>
            <a:endParaRPr/>
          </a:p>
        </p:txBody>
      </p:sp>
      <p:pic>
        <p:nvPicPr>
          <p:cNvPr descr="Desenho de um círculo  Descrição gerada automaticamente com confiança média" id="142" name="Google Shape;1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Rua do UniSENAI, 123, Bairro, Cidade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2019-05-13T19:17:28Z</dcterms:created>
  <dc:creator>GUSTAVO CAMPOS BARBOSA</dc:creator>
</cp:coreProperties>
</file>